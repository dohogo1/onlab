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17"/>
  </p:notesMasterIdLst>
  <p:sldIdLst>
    <p:sldId id="256" r:id="rId2"/>
    <p:sldId id="259" r:id="rId3"/>
    <p:sldId id="260" r:id="rId4"/>
    <p:sldId id="262" r:id="rId5"/>
    <p:sldId id="263" r:id="rId6"/>
    <p:sldId id="264" r:id="rId7"/>
    <p:sldId id="265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7938" autoAdjust="0"/>
  </p:normalViewPr>
  <p:slideViewPr>
    <p:cSldViewPr snapToGrid="0">
      <p:cViewPr varScale="1">
        <p:scale>
          <a:sx n="87" d="100"/>
          <a:sy n="87" d="100"/>
        </p:scale>
        <p:origin x="1512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DD9B4-DCA4-4902-86F9-4A686D90E45A}" type="datetimeFigureOut">
              <a:rPr lang="en-US" smtClean="0"/>
              <a:t>2026-06-01</a:t>
            </a:fld>
            <a:endParaRPr lang="en-US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19C41-24EE-41E6-83CE-A4F63A806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074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projektem célja egy olyan webes vizualizációs alkalmazás elkészítése volt, amely bemutatja a statikus és adaptív Huffman-kódolás működését.</a:t>
            </a:r>
          </a:p>
          <a:p>
            <a:endParaRPr lang="hu-HU" dirty="0"/>
          </a:p>
          <a:p>
            <a:r>
              <a:rPr lang="hu-HU" dirty="0"/>
              <a:t>Motivációk:</a:t>
            </a:r>
            <a:br>
              <a:rPr lang="hu-HU" dirty="0"/>
            </a:br>
            <a:r>
              <a:rPr lang="hu-HU" dirty="0"/>
              <a:t>	adaptív megismerése</a:t>
            </a:r>
          </a:p>
          <a:p>
            <a:r>
              <a:rPr lang="hu-HU" dirty="0"/>
              <a:t>	vizualizálás</a:t>
            </a:r>
          </a:p>
          <a:p>
            <a:r>
              <a:rPr lang="hu-HU" dirty="0"/>
              <a:t>	bővíthetőség</a:t>
            </a:r>
          </a:p>
          <a:p>
            <a:endParaRPr lang="hu-HU" dirty="0"/>
          </a:p>
          <a:p>
            <a:r>
              <a:rPr lang="hu-HU" dirty="0"/>
              <a:t>A program JavaScriptben készült, a Huffman-fák megjelenítéséhez pedig a D3.js könyvtárat használtam.</a:t>
            </a:r>
          </a:p>
          <a:p>
            <a:endParaRPr lang="en-US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19C41-24EE-41E6-83CE-A4F63A806A1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147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Adattömörítő: a bemenetet kevesebb bitre képezi le</a:t>
            </a:r>
          </a:p>
          <a:p>
            <a:endParaRPr lang="hu-HU" dirty="0"/>
          </a:p>
          <a:p>
            <a:r>
              <a:rPr lang="hu-HU" dirty="0"/>
              <a:t>Veszteségmentes: a kódolt adat bitre pontosan visszaállítható</a:t>
            </a:r>
          </a:p>
          <a:p>
            <a:endParaRPr lang="hu-HU" dirty="0"/>
          </a:p>
          <a:p>
            <a:r>
              <a:rPr lang="hu-HU" dirty="0"/>
              <a:t>Optimális: átlagos kódszóhossza minimális, nem lehet másik kódolást találni, ami az adott bemenetet rövidebb átlagos </a:t>
            </a:r>
            <a:r>
              <a:rPr lang="hu-HU" dirty="0" err="1"/>
              <a:t>kódszóhosszal</a:t>
            </a:r>
            <a:r>
              <a:rPr lang="hu-HU" dirty="0"/>
              <a:t> tömörítené</a:t>
            </a:r>
          </a:p>
          <a:p>
            <a:r>
              <a:rPr lang="hu-HU" dirty="0"/>
              <a:t>	Ez abból látszik, hogy egy gyakrabban előforduló szimbólum rövidebb, és egy ritkább előforduló pedig hosszabb kódszót kap.</a:t>
            </a:r>
          </a:p>
          <a:p>
            <a:endParaRPr lang="hu-HU" dirty="0"/>
          </a:p>
          <a:p>
            <a:r>
              <a:rPr lang="hu-HU" dirty="0"/>
              <a:t>Prefix: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kód</a:t>
            </a:r>
            <a:r>
              <a:rPr lang="en-US" dirty="0"/>
              <a:t> </a:t>
            </a:r>
            <a:r>
              <a:rPr lang="en-US" dirty="0" err="1"/>
              <a:t>akkor</a:t>
            </a:r>
            <a:r>
              <a:rPr lang="en-US" dirty="0"/>
              <a:t> prefix, ha a </a:t>
            </a:r>
            <a:r>
              <a:rPr lang="en-US" dirty="0" err="1"/>
              <a:t>lehetséges</a:t>
            </a:r>
            <a:r>
              <a:rPr lang="en-US" dirty="0"/>
              <a:t> kódszavai </a:t>
            </a:r>
            <a:r>
              <a:rPr lang="en-US" dirty="0" err="1"/>
              <a:t>közül</a:t>
            </a:r>
            <a:r>
              <a:rPr lang="en-US" dirty="0"/>
              <a:t> </a:t>
            </a:r>
            <a:r>
              <a:rPr lang="en-US" dirty="0" err="1"/>
              <a:t>egyik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folytatása</a:t>
            </a:r>
            <a:r>
              <a:rPr lang="en-US" dirty="0"/>
              <a:t> a </a:t>
            </a:r>
            <a:r>
              <a:rPr lang="en-US" dirty="0" err="1"/>
              <a:t>másiknak</a:t>
            </a:r>
            <a:r>
              <a:rPr lang="en-US" dirty="0"/>
              <a:t>, </a:t>
            </a:r>
            <a:r>
              <a:rPr lang="en-US" dirty="0" err="1"/>
              <a:t>vagyis</a:t>
            </a:r>
            <a:r>
              <a:rPr lang="en-US" dirty="0"/>
              <a:t> </a:t>
            </a:r>
            <a:r>
              <a:rPr lang="en-US" dirty="0" err="1"/>
              <a:t>bármelyik</a:t>
            </a:r>
            <a:r>
              <a:rPr lang="en-US" dirty="0"/>
              <a:t> </a:t>
            </a:r>
            <a:r>
              <a:rPr lang="en-US" dirty="0" err="1"/>
              <a:t>kódszavának</a:t>
            </a:r>
            <a:r>
              <a:rPr lang="en-US" dirty="0"/>
              <a:t> </a:t>
            </a:r>
            <a:r>
              <a:rPr lang="en-US" dirty="0" err="1"/>
              <a:t>végéből</a:t>
            </a:r>
            <a:r>
              <a:rPr lang="en-US" dirty="0"/>
              <a:t> </a:t>
            </a:r>
            <a:r>
              <a:rPr lang="en-US" dirty="0" err="1"/>
              <a:t>bármekkora</a:t>
            </a:r>
            <a:r>
              <a:rPr lang="en-US" dirty="0"/>
              <a:t> </a:t>
            </a:r>
            <a:r>
              <a:rPr lang="en-US" dirty="0" err="1"/>
              <a:t>részletet</a:t>
            </a:r>
            <a:r>
              <a:rPr lang="en-US" dirty="0"/>
              <a:t> </a:t>
            </a:r>
            <a:r>
              <a:rPr lang="en-US" dirty="0" err="1"/>
              <a:t>levágva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kapunk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másik</a:t>
            </a:r>
            <a:r>
              <a:rPr lang="en-US" dirty="0"/>
              <a:t> </a:t>
            </a:r>
            <a:r>
              <a:rPr lang="en-US" dirty="0" err="1"/>
              <a:t>kódszót</a:t>
            </a:r>
            <a:r>
              <a:rPr lang="en-US" dirty="0"/>
              <a:t>.</a:t>
            </a:r>
            <a:endParaRPr lang="hu-HU" dirty="0"/>
          </a:p>
          <a:p>
            <a:r>
              <a:rPr lang="hu-HU" dirty="0"/>
              <a:t>	A prefix kódok ábrázolhatóak olyan kódfával, amiknek csak a leveleihez tartoznak kódszavak.</a:t>
            </a:r>
          </a:p>
          <a:p>
            <a:endParaRPr lang="hu-HU" dirty="0"/>
          </a:p>
          <a:p>
            <a:r>
              <a:rPr lang="hu-HU" dirty="0"/>
              <a:t>Gyakoriságfüggő: a forráseloszlás ismeretében lehet csak alkalmazni</a:t>
            </a:r>
          </a:p>
          <a:p>
            <a:r>
              <a:rPr lang="hu-HU" dirty="0"/>
              <a:t>	Ha a forráseloszlás ismeretlen, akkor becsülhető a karakterek relatív gyakoriságával, de ehhez végig kell 	előre olvasni.</a:t>
            </a:r>
            <a:endParaRPr lang="en-US" dirty="0"/>
          </a:p>
          <a:p>
            <a:endParaRPr lang="en-US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19C41-24EE-41E6-83CE-A4F63A806A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8601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Nem egyértelmű a kimenet</a:t>
            </a:r>
          </a:p>
          <a:p>
            <a:endParaRPr lang="hu-HU" dirty="0"/>
          </a:p>
          <a:p>
            <a:r>
              <a:rPr lang="hu-HU" dirty="0"/>
              <a:t>A legkisebb valószínűségek kiválasztása (3. lépés) döntetlenek esetén nem egyértelmű, ezért ugyanahhoz a bemenethez több különböző kódfát is lehet építeni.</a:t>
            </a:r>
          </a:p>
          <a:p>
            <a:r>
              <a:rPr lang="hu-HU" dirty="0"/>
              <a:t>De a különböző kódfák átlagos kódszóhossza mindig ugyanannyi.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19C41-24EE-41E6-83CE-A4F63A806A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5027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Példa a „szeder” bemenettel.</a:t>
            </a:r>
          </a:p>
          <a:p>
            <a:r>
              <a:rPr lang="hu-HU" dirty="0"/>
              <a:t>Táblázatban megjeleníti a relatív gyakoriságokat.</a:t>
            </a:r>
          </a:p>
          <a:p>
            <a:endParaRPr lang="hu-HU" dirty="0"/>
          </a:p>
          <a:p>
            <a:r>
              <a:rPr lang="hu-HU" dirty="0"/>
              <a:t>A megvalósításom annyiban tér el a hagyományos </a:t>
            </a:r>
            <a:r>
              <a:rPr lang="hu-HU" dirty="0" err="1"/>
              <a:t>huffman</a:t>
            </a:r>
            <a:r>
              <a:rPr lang="hu-HU" dirty="0"/>
              <a:t>-kódolástól, hogy minden lehetséges kódfát elkészít.</a:t>
            </a:r>
          </a:p>
          <a:p>
            <a:r>
              <a:rPr lang="hu-HU" dirty="0"/>
              <a:t>A kódfákat az alakjuk alapján lehet szűrni, alakonként 1-1 db megjelenítésére.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Két különböző alakú fa.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19C41-24EE-41E6-83CE-A4F63A806A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997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6D52A-A166-C19A-D4E4-57FBC1BF8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F1A90273-5ABA-C186-A490-26E5E8AB4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BB595E2C-CD73-8F53-8B2B-598BC1A49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8034495-36BE-7066-F5F5-7DC3BE3BB8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19C41-24EE-41E6-83CE-A4F63A806A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2960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fában a szimbólum előfordulási száma van, kevesebb számolás konstans osztás lenne minden csúcsra a relatív gyakoriság kiszámítása.</a:t>
            </a:r>
          </a:p>
          <a:p>
            <a:endParaRPr lang="hu-HU" dirty="0"/>
          </a:p>
          <a:p>
            <a:r>
              <a:rPr lang="hu-HU" dirty="0"/>
              <a:t>A testvérpár tulajdonság akkor igaz egy fára, ha alulról felfelé balról-jobbra haladva felsorolhatóak a fa testvér pontpárjai súlyuk (karaktergyakoriság) szerint nem csökkenő sorrendben</a:t>
            </a:r>
          </a:p>
          <a:p>
            <a:r>
              <a:rPr lang="hu-HU" dirty="0"/>
              <a:t>A Testvérpár tulajdonság minden Huffman-fára igaz, de az adaptív algoritmus során figyelni kell a  betartására.</a:t>
            </a:r>
          </a:p>
          <a:p>
            <a:endParaRPr lang="hu-HU" dirty="0"/>
          </a:p>
          <a:p>
            <a:r>
              <a:rPr lang="hu-HU" dirty="0"/>
              <a:t>Az egyező súlyú csúcsok mindig egymás mellett vannak, </a:t>
            </a:r>
            <a:r>
              <a:rPr lang="hu-HU" noProof="0" dirty="0"/>
              <a:t>ezt egy blokknak hívjuk</a:t>
            </a:r>
            <a:r>
              <a:rPr lang="en-US" dirty="0"/>
              <a:t>. </a:t>
            </a: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z="1200" dirty="0"/>
              <a:t>Akkor ha az eloszlás nem ismert, és nem érdemes relatív gyakorisággal becsülni – </a:t>
            </a:r>
            <a:r>
              <a:rPr lang="hu-HU" sz="1200" dirty="0" err="1"/>
              <a:t>késleltelésmentes</a:t>
            </a:r>
            <a:r>
              <a:rPr lang="hu-HU" sz="1200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z="1200" dirty="0"/>
              <a:t>NYT levél: 0 súlyú levél, ami a fában még nem szereplő szimbólumokat reprezentálja.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19C41-24EE-41E6-83CE-A4F63A806A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2094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2556D-7A7B-879F-FBBD-1F96F87C8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D9B93A6F-B622-E81C-6D4E-5DB220CAA1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87D0AF76-3102-746A-27CB-276FDAA541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Érkező karakter: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	Ismert: a fában szereplő kódszó továbbítása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	Nem ismert: NYT </a:t>
            </a:r>
            <a:r>
              <a:rPr lang="hu-HU" dirty="0" err="1"/>
              <a:t>kódszavának</a:t>
            </a:r>
            <a:r>
              <a:rPr lang="hu-HU" dirty="0"/>
              <a:t> továbbítása, érkező karakter nyers formájának továbbítása, NYT szétbontása -&gt; új NYT és az új szimbólum levelére, élek címkézése (0/1)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Addig fut a fa frissítése, amíg a gyökérig elér.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4CAFD1B-88B1-E2A2-73C7-443AA85C69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19C41-24EE-41E6-83CE-A4F63A806A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9658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5819E-53F6-6CD1-8910-78698C5EC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119F625B-527B-2BBC-5B07-7D247E5BE7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48ACB2D5-0B69-BB52-EF3C-4F8C55FF65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kódoló algoritmusom lépésenként elmenti a kódfát </a:t>
            </a:r>
            <a:r>
              <a:rPr lang="hu-HU" dirty="0" err="1"/>
              <a:t>snapshotokba</a:t>
            </a:r>
            <a:r>
              <a:rPr lang="hu-HU" dirty="0"/>
              <a:t>, ezek között lehet oda-vissza léptetni a megjelenítést.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B7C1E44-B4FC-1C9C-27F0-3CADBA4FB1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19C41-24EE-41E6-83CE-A4F63A806A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607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FE5B5-4D6E-2035-4299-59406EFBE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9C115C63-3933-7D9B-AB9A-5108B5E3D5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E5C0AAB8-9C03-378A-3091-5D34BF759E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program kiírja </a:t>
            </a:r>
            <a:r>
              <a:rPr lang="hu-HU" sz="1200" dirty="0">
                <a:solidFill>
                  <a:schemeClr val="accent1"/>
                </a:solidFill>
              </a:rPr>
              <a:t>éppen beolvasott karaktert, az eddig kódolt szöveget, és az elküldött kódot, valamint az egyes szimbólumok előfordulási számát</a:t>
            </a:r>
          </a:p>
          <a:p>
            <a:endParaRPr lang="hu-HU" sz="1200" dirty="0">
              <a:solidFill>
                <a:schemeClr val="accent1"/>
              </a:solidFill>
            </a:endParaRPr>
          </a:p>
          <a:p>
            <a:r>
              <a:rPr lang="hu-HU" sz="1200" dirty="0">
                <a:solidFill>
                  <a:schemeClr val="accent1"/>
                </a:solidFill>
              </a:rPr>
              <a:t>1. lépés: a NYT levél ketté válik, létrejön az ‚a’ levél és az új NYT levél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6688191-98BB-748C-5661-A068E3A5BC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19C41-24EE-41E6-83CE-A4F63A806A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494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66647-5BFC-DB2D-7277-E388B5B32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1697C895-43CE-4FD5-10F6-37F41E1099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C060F4DE-943E-9468-0D03-7CB74C1615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2. lépés: újra egy még nem látott karakter érkezik, itt is kettéválik a NYT</a:t>
            </a:r>
          </a:p>
          <a:p>
            <a:endParaRPr lang="hu-HU" dirty="0"/>
          </a:p>
          <a:p>
            <a:r>
              <a:rPr lang="hu-HU" dirty="0"/>
              <a:t>A megjelenítésnél narancssárga színnel jelöltem a csúcsokat, amik változtak a lépés során.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499A44C-359E-F26E-538B-A6F564BA4F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19C41-24EE-41E6-83CE-A4F63A806A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6914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34D9A-7166-9B23-3644-5B62EC7C4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C3D7463D-DF6C-3F2B-7C77-C717850F39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FA70F044-59B8-EC16-D19D-01C9E2A40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3. lépés: frissül a fa, nő a ‚b’ levél súlya, és helyet cserél az ‚a’ levéllel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26AD93A9-5753-62E5-7B20-5FCFC5F257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19C41-24EE-41E6-83CE-A4F63A806A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833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F8930-6D5E-4F66-9472-95AB4F120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AEC1E65C-59BB-BCE3-D61D-C583A499ED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7C51780A-CF1B-91E2-DC66-978351DB4F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4. lépés: nő az ‚a’ levél súlya</a:t>
            </a:r>
          </a:p>
          <a:p>
            <a:endParaRPr lang="hu-HU" dirty="0"/>
          </a:p>
          <a:p>
            <a:r>
              <a:rPr lang="hu-HU" dirty="0"/>
              <a:t>Új karaktersor hozzáfűzhető, az on-line működés miatt az addigi kimenet nem változik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AA01526-D976-E6D7-A3D5-6DE2CB99FE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19C41-24EE-41E6-83CE-A4F63A806A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9367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51801-9050-E10C-651B-EA5290D4D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35EC6C54-FCC2-5BD1-22E0-3B0E775A1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5F6EE9A8-A05A-5D22-CFCF-874005EEA4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5. lépés: hozzáadódott az ‚n’ karakter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841B422-3E4B-522C-B01F-E24AB1F4B6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19C41-24EE-41E6-83CE-A4F63A806A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3001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19C41-24EE-41E6-83CE-A4F63A806A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8959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19C41-24EE-41E6-83CE-A4F63A806A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737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2026-06-01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2026-06-01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2026-06-01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2026-06-01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2026-06-01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2026-06-01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2026-06-01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2026-06-01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2026-06-01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2026-06-01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2026-06-01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2026-06-01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3FDC1CF-DC91-E53C-CB7E-2F68414551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4993" y="1499690"/>
            <a:ext cx="7315200" cy="2621702"/>
          </a:xfrm>
        </p:spPr>
        <p:txBody>
          <a:bodyPr>
            <a:normAutofit fontScale="90000"/>
          </a:bodyPr>
          <a:lstStyle/>
          <a:p>
            <a:r>
              <a:rPr lang="hu-HU" sz="5400" b="1" noProof="0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Segédszoftver készítése kódoló algoritmusokhoz</a:t>
            </a:r>
            <a:br>
              <a:rPr lang="hu-HU" noProof="0" dirty="0"/>
            </a:br>
            <a:endParaRPr lang="hu-HU" noProof="0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771B657-F8E8-6DC0-E496-AE9D8B2750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noProof="0" dirty="0"/>
              <a:t>Ács Dorottya Julianna</a:t>
            </a:r>
          </a:p>
          <a:p>
            <a:r>
              <a:rPr lang="hu-HU" noProof="0" dirty="0"/>
              <a:t>Konzulens: Dr. Pintér Márta</a:t>
            </a:r>
          </a:p>
        </p:txBody>
      </p:sp>
    </p:spTree>
    <p:extLst>
      <p:ext uri="{BB962C8B-B14F-4D97-AF65-F5344CB8AC3E}">
        <p14:creationId xmlns:p14="http://schemas.microsoft.com/office/powerpoint/2010/main" val="2482002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453134C-48D3-F349-822E-1CCCFF46A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noProof="0" dirty="0">
                <a:solidFill>
                  <a:schemeClr val="bg1"/>
                </a:solidFill>
              </a:rPr>
              <a:t>Statikus Huffman-kódolás jellemzői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1487CD1-503A-72FC-A2BE-7F4035594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400" noProof="0" dirty="0"/>
              <a:t>Adattömörítő kódolás</a:t>
            </a:r>
          </a:p>
          <a:p>
            <a:r>
              <a:rPr lang="hu-HU" sz="2400" noProof="0" dirty="0"/>
              <a:t>Veszteségmentes</a:t>
            </a:r>
          </a:p>
          <a:p>
            <a:r>
              <a:rPr lang="hu-HU" sz="2400" noProof="0" dirty="0"/>
              <a:t>Optimális</a:t>
            </a:r>
          </a:p>
          <a:p>
            <a:r>
              <a:rPr lang="hu-HU" sz="2400" noProof="0" dirty="0"/>
              <a:t>Prefix</a:t>
            </a:r>
          </a:p>
          <a:p>
            <a:r>
              <a:rPr lang="hu-HU" sz="2400" noProof="0" dirty="0"/>
              <a:t>Gyakoriságfüggő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22A98210-5A1C-5943-9A34-C04F6B970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415" y="162631"/>
            <a:ext cx="3384257" cy="237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517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4C544E4-5FF6-1855-86A7-90F19E6A6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noProof="0" dirty="0">
                <a:solidFill>
                  <a:schemeClr val="bg1"/>
                </a:solidFill>
              </a:rPr>
              <a:t>Statikus Huffman-kódolás folyamata</a:t>
            </a:r>
            <a:endParaRPr lang="hu-HU" noProof="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6E892C3-A168-8880-E1F9-1A425ADF4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6752" y="864108"/>
            <a:ext cx="7427716" cy="5120640"/>
          </a:xfrm>
        </p:spPr>
        <p:txBody>
          <a:bodyPr/>
          <a:lstStyle/>
          <a:p>
            <a:pPr marL="0" indent="0">
              <a:buNone/>
            </a:pPr>
            <a:r>
              <a:rPr lang="hu-HU" sz="2400" noProof="0" dirty="0" err="1"/>
              <a:t>Kódfa</a:t>
            </a:r>
            <a:r>
              <a:rPr lang="hu-HU" sz="2400" noProof="0" dirty="0"/>
              <a:t> építése:</a:t>
            </a:r>
          </a:p>
          <a:p>
            <a:pPr marL="0" indent="0">
              <a:buNone/>
            </a:pPr>
            <a:endParaRPr lang="hu-HU" sz="2400" noProof="0" dirty="0"/>
          </a:p>
          <a:p>
            <a:pPr marL="457200" indent="-457200">
              <a:buFont typeface="+mj-lt"/>
              <a:buAutoNum type="arabicPeriod"/>
            </a:pPr>
            <a:r>
              <a:rPr lang="hu-HU" sz="1800" noProof="0" dirty="0"/>
              <a:t>Forráseloszlás becslése ha nem ismert</a:t>
            </a:r>
          </a:p>
          <a:p>
            <a:pPr marL="457200" indent="-457200">
              <a:buFont typeface="+mj-lt"/>
              <a:buAutoNum type="arabicPeriod"/>
            </a:pPr>
            <a:r>
              <a:rPr lang="hu-HU" sz="1800" noProof="0" dirty="0"/>
              <a:t>Minden szimbólumnak megfeleltetünk egy levelet</a:t>
            </a:r>
          </a:p>
          <a:p>
            <a:pPr marL="457200" indent="-457200">
              <a:buFont typeface="+mj-lt"/>
              <a:buAutoNum type="arabicPeriod"/>
            </a:pPr>
            <a:r>
              <a:rPr lang="hu-HU" sz="1800" noProof="0" dirty="0"/>
              <a:t>Kiválasztjuk a két legkisebb valószínűségű szülő nélküli csúcsot (</a:t>
            </a:r>
            <a:r>
              <a:rPr lang="hu-HU" sz="1800" i="1" noProof="0" dirty="0"/>
              <a:t>x</a:t>
            </a:r>
            <a:r>
              <a:rPr lang="hu-HU" sz="1800" noProof="0" dirty="0"/>
              <a:t> és </a:t>
            </a:r>
            <a:r>
              <a:rPr lang="hu-HU" sz="1800" i="1" noProof="0" dirty="0"/>
              <a:t>y</a:t>
            </a:r>
            <a:r>
              <a:rPr lang="hu-HU" sz="1800" noProof="0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hu-HU" sz="1800" noProof="0" dirty="0"/>
              <a:t>Összevonjuk őket egy csomópontba, aminek valószínűsége: 𝑝(𝑥) + 𝑝(𝑦)</a:t>
            </a:r>
          </a:p>
          <a:p>
            <a:pPr marL="457200" indent="-457200">
              <a:buFont typeface="+mj-lt"/>
              <a:buAutoNum type="arabicPeriod"/>
            </a:pPr>
            <a:r>
              <a:rPr lang="hu-HU" sz="1800" noProof="0" dirty="0"/>
              <a:t>Megcímkézzük az új éleket 0-ra és 1-re</a:t>
            </a:r>
          </a:p>
          <a:p>
            <a:pPr marL="457200" indent="-457200">
              <a:buFont typeface="+mj-lt"/>
              <a:buAutoNum type="arabicPeriod"/>
            </a:pPr>
            <a:r>
              <a:rPr lang="hu-HU" sz="1800" noProof="0" dirty="0"/>
              <a:t>Ha a gráf nem összefüggő, ugrás a 3. lépésre</a:t>
            </a:r>
          </a:p>
          <a:p>
            <a:pPr marL="0" indent="0">
              <a:buNone/>
            </a:pPr>
            <a:endParaRPr lang="hu-HU" sz="1800" noProof="0" dirty="0"/>
          </a:p>
          <a:p>
            <a:pPr marL="0" indent="0">
              <a:buNone/>
            </a:pPr>
            <a:r>
              <a:rPr lang="hu-HU" noProof="0" dirty="0"/>
              <a:t>A megépített kódfában a kódszavak a gyökértől a levelekig vezető út súlyai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40C5A8F7-EEF4-67DC-FFBC-4ED22502E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415" y="162631"/>
            <a:ext cx="3384257" cy="237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805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Kép 20">
            <a:extLst>
              <a:ext uri="{FF2B5EF4-FFF2-40B4-BE49-F238E27FC236}">
                <a16:creationId xmlns:a16="http://schemas.microsoft.com/office/drawing/2014/main" id="{8AE0369E-1293-AC46-A69F-0A2B2D313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6413" y="1123720"/>
            <a:ext cx="8916269" cy="5734280"/>
          </a:xfrm>
          <a:prstGeom prst="rect">
            <a:avLst/>
          </a:prstGeom>
        </p:spPr>
      </p:pic>
      <p:sp>
        <p:nvSpPr>
          <p:cNvPr id="2" name="Téglalap 1">
            <a:extLst>
              <a:ext uri="{FF2B5EF4-FFF2-40B4-BE49-F238E27FC236}">
                <a16:creationId xmlns:a16="http://schemas.microsoft.com/office/drawing/2014/main" id="{C4B28A2C-A6CC-AEC0-4C19-3100C7EAB110}"/>
              </a:ext>
            </a:extLst>
          </p:cNvPr>
          <p:cNvSpPr/>
          <p:nvPr/>
        </p:nvSpPr>
        <p:spPr>
          <a:xfrm>
            <a:off x="0" y="0"/>
            <a:ext cx="12192000" cy="1123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noProof="0" dirty="0"/>
          </a:p>
        </p:txBody>
      </p:sp>
      <p:sp>
        <p:nvSpPr>
          <p:cNvPr id="3" name="Cím 1">
            <a:extLst>
              <a:ext uri="{FF2B5EF4-FFF2-40B4-BE49-F238E27FC236}">
                <a16:creationId xmlns:a16="http://schemas.microsoft.com/office/drawing/2014/main" id="{766287CA-718C-CF1B-5ABF-FB2E43CE7B8C}"/>
              </a:ext>
            </a:extLst>
          </p:cNvPr>
          <p:cNvSpPr txBox="1">
            <a:spLocks/>
          </p:cNvSpPr>
          <p:nvPr/>
        </p:nvSpPr>
        <p:spPr>
          <a:xfrm>
            <a:off x="278065" y="272668"/>
            <a:ext cx="9130339" cy="42139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noProof="0" dirty="0"/>
              <a:t>Statikus Huffman-kódolás a programomban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C9A98B8A-1E58-2D72-9F8D-66AC57F36E48}"/>
              </a:ext>
            </a:extLst>
          </p:cNvPr>
          <p:cNvSpPr txBox="1"/>
          <p:nvPr/>
        </p:nvSpPr>
        <p:spPr>
          <a:xfrm>
            <a:off x="278065" y="1548728"/>
            <a:ext cx="237700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hu-HU" noProof="0" dirty="0">
                <a:solidFill>
                  <a:schemeClr val="accent1"/>
                </a:solidFill>
              </a:rPr>
              <a:t>Kétféle lehetséges kódbevitel</a:t>
            </a:r>
          </a:p>
          <a:p>
            <a:pPr marL="742950" lvl="1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hu-HU" sz="1600" noProof="0" dirty="0">
                <a:solidFill>
                  <a:schemeClr val="tx2"/>
                </a:solidFill>
              </a:rPr>
              <a:t>Eloszlással</a:t>
            </a:r>
          </a:p>
          <a:p>
            <a:pPr marL="742950" lvl="1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hu-HU" sz="1600" noProof="0" dirty="0">
                <a:solidFill>
                  <a:schemeClr val="tx2"/>
                </a:solidFill>
              </a:rPr>
              <a:t>Szöveggel</a:t>
            </a:r>
          </a:p>
          <a:p>
            <a:pPr marL="742950" lvl="1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hu-HU" sz="1600" noProof="0" dirty="0">
              <a:solidFill>
                <a:schemeClr val="tx2"/>
              </a:solidFill>
            </a:endParaRPr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hu-HU" noProof="0" dirty="0">
                <a:solidFill>
                  <a:schemeClr val="accent1"/>
                </a:solidFill>
              </a:rPr>
              <a:t>Összes lehetséges fa kirajzolása</a:t>
            </a:r>
          </a:p>
          <a:p>
            <a:pPr marL="742950" lvl="1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hu-HU" sz="1600" dirty="0">
                <a:solidFill>
                  <a:schemeClr val="tx2"/>
                </a:solidFill>
              </a:rPr>
              <a:t>K</a:t>
            </a:r>
            <a:r>
              <a:rPr lang="hu-HU" sz="1600" noProof="0" dirty="0" err="1">
                <a:solidFill>
                  <a:schemeClr val="tx2"/>
                </a:solidFill>
              </a:rPr>
              <a:t>ülönböző</a:t>
            </a:r>
            <a:r>
              <a:rPr lang="hu-HU" sz="1600" noProof="0" dirty="0">
                <a:solidFill>
                  <a:schemeClr val="tx2"/>
                </a:solidFill>
              </a:rPr>
              <a:t> alakúak szűrése</a:t>
            </a:r>
          </a:p>
          <a:p>
            <a:pPr>
              <a:buClr>
                <a:schemeClr val="tx2"/>
              </a:buClr>
            </a:pPr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1994230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24BE0-B307-115F-669F-46D1CEE70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B2700A6B-CB4D-2261-17A3-FD26A10C4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65" y="1156497"/>
            <a:ext cx="11365736" cy="5064488"/>
          </a:xfrm>
          <a:prstGeom prst="rect">
            <a:avLst/>
          </a:prstGeom>
        </p:spPr>
      </p:pic>
      <p:sp>
        <p:nvSpPr>
          <p:cNvPr id="2" name="Téglalap 1">
            <a:extLst>
              <a:ext uri="{FF2B5EF4-FFF2-40B4-BE49-F238E27FC236}">
                <a16:creationId xmlns:a16="http://schemas.microsoft.com/office/drawing/2014/main" id="{4094C994-FCA4-7048-C9B3-3DE1AD48C6FF}"/>
              </a:ext>
            </a:extLst>
          </p:cNvPr>
          <p:cNvSpPr/>
          <p:nvPr/>
        </p:nvSpPr>
        <p:spPr>
          <a:xfrm>
            <a:off x="0" y="0"/>
            <a:ext cx="12192000" cy="1123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noProof="0" dirty="0"/>
          </a:p>
        </p:txBody>
      </p:sp>
      <p:sp>
        <p:nvSpPr>
          <p:cNvPr id="3" name="Cím 1">
            <a:extLst>
              <a:ext uri="{FF2B5EF4-FFF2-40B4-BE49-F238E27FC236}">
                <a16:creationId xmlns:a16="http://schemas.microsoft.com/office/drawing/2014/main" id="{9E9B10DC-77FF-1951-24A2-37163454B503}"/>
              </a:ext>
            </a:extLst>
          </p:cNvPr>
          <p:cNvSpPr txBox="1">
            <a:spLocks/>
          </p:cNvSpPr>
          <p:nvPr/>
        </p:nvSpPr>
        <p:spPr>
          <a:xfrm>
            <a:off x="278065" y="272668"/>
            <a:ext cx="9130339" cy="42139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noProof="0" dirty="0"/>
              <a:t>Statikus Huffman kódolás a programomban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Szövegdoboz 14">
                <a:extLst>
                  <a:ext uri="{FF2B5EF4-FFF2-40B4-BE49-F238E27FC236}">
                    <a16:creationId xmlns:a16="http://schemas.microsoft.com/office/drawing/2014/main" id="{65265856-1EB2-5BC2-183A-454D2D022D2B}"/>
                  </a:ext>
                </a:extLst>
              </p:cNvPr>
              <p:cNvSpPr txBox="1"/>
              <p:nvPr/>
            </p:nvSpPr>
            <p:spPr>
              <a:xfrm>
                <a:off x="278065" y="5078346"/>
                <a:ext cx="2883776" cy="17796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Clr>
                    <a:schemeClr val="tx2"/>
                  </a:buClr>
                  <a:buFont typeface="Arial" panose="020B0604020202020204" pitchFamily="34" charset="0"/>
                  <a:buChar char="•"/>
                </a:pPr>
                <a:r>
                  <a:rPr lang="hu-HU" noProof="0" dirty="0">
                    <a:solidFill>
                      <a:schemeClr val="accent1"/>
                    </a:solidFill>
                  </a:rPr>
                  <a:t>A fák szűrésének kikapcsolásával megjeleníti az összes (18 db) lehetséges kódfát</a:t>
                </a:r>
              </a:p>
              <a:p>
                <a:pPr marL="285750" indent="-285750">
                  <a:buClr>
                    <a:schemeClr val="tx2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hu-HU" b="0" i="0" noProof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18=</m:t>
                    </m:r>
                    <m:d>
                      <m:dPr>
                        <m:ctrlPr>
                          <a:rPr lang="hu-HU" b="0" noProof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hu-HU" b="0" noProof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hu-HU" b="0" i="0" noProof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hu-HU" b="0" i="0" noProof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hu-HU" b="0" noProof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hu-HU" b="0" noProof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hu-HU" b="0" i="0" noProof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hu-HU" b="0" i="0" noProof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hu-HU" noProof="0" dirty="0">
                    <a:solidFill>
                      <a:schemeClr val="accent1"/>
                    </a:solidFill>
                  </a:rPr>
                  <a:t> = 6*3</a:t>
                </a:r>
              </a:p>
              <a:p>
                <a:pPr marL="285750" indent="-285750">
                  <a:buClr>
                    <a:schemeClr val="tx2"/>
                  </a:buClr>
                  <a:buFont typeface="Arial" panose="020B0604020202020204" pitchFamily="34" charset="0"/>
                  <a:buChar char="•"/>
                </a:pPr>
                <a:endParaRPr lang="hu-HU" sz="1600" noProof="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5" name="Szövegdoboz 14">
                <a:extLst>
                  <a:ext uri="{FF2B5EF4-FFF2-40B4-BE49-F238E27FC236}">
                    <a16:creationId xmlns:a16="http://schemas.microsoft.com/office/drawing/2014/main" id="{65265856-1EB2-5BC2-183A-454D2D022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065" y="5078346"/>
                <a:ext cx="2883776" cy="1779654"/>
              </a:xfrm>
              <a:prstGeom prst="rect">
                <a:avLst/>
              </a:prstGeom>
              <a:blipFill>
                <a:blip r:embed="rId4"/>
                <a:stretch>
                  <a:fillRect l="-1480" t="-1712" r="-211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5670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0ECD6EB-EDC6-D287-5085-F2EE42C0D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noProof="0" dirty="0"/>
              <a:t>Miben más az </a:t>
            </a:r>
            <a:r>
              <a:rPr lang="hu-HU" dirty="0"/>
              <a:t>A</a:t>
            </a:r>
            <a:r>
              <a:rPr lang="hu-HU" noProof="0" dirty="0" err="1"/>
              <a:t>daptív</a:t>
            </a:r>
            <a:r>
              <a:rPr lang="hu-HU" noProof="0" dirty="0"/>
              <a:t> Huffman-kódolás?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CD439F8-FE50-4FAB-5F7D-61D86EE6C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0285" y="864108"/>
            <a:ext cx="7315200" cy="5120640"/>
          </a:xfrm>
        </p:spPr>
        <p:txBody>
          <a:bodyPr>
            <a:normAutofit/>
          </a:bodyPr>
          <a:lstStyle/>
          <a:p>
            <a:r>
              <a:rPr lang="hu-HU" sz="2400" dirty="0"/>
              <a:t>Akkor ha az eloszlás nem ismert, és nem érdemes becsülni</a:t>
            </a:r>
            <a:endParaRPr lang="hu-HU" sz="2400" noProof="0" dirty="0"/>
          </a:p>
          <a:p>
            <a:r>
              <a:rPr lang="hu-HU" sz="2400" noProof="0" dirty="0"/>
              <a:t>On-line</a:t>
            </a:r>
          </a:p>
          <a:p>
            <a:r>
              <a:rPr lang="hu-HU" sz="2400" noProof="0" dirty="0"/>
              <a:t>NYT (</a:t>
            </a:r>
            <a:r>
              <a:rPr lang="hu-HU" sz="2400" noProof="0" dirty="0" err="1"/>
              <a:t>Not</a:t>
            </a:r>
            <a:r>
              <a:rPr lang="hu-HU" sz="2400" noProof="0" dirty="0"/>
              <a:t> </a:t>
            </a:r>
            <a:r>
              <a:rPr lang="hu-HU" sz="2400" noProof="0" dirty="0" err="1"/>
              <a:t>Yet</a:t>
            </a:r>
            <a:r>
              <a:rPr lang="hu-HU" sz="2400" noProof="0" dirty="0"/>
              <a:t> </a:t>
            </a:r>
            <a:r>
              <a:rPr lang="hu-HU" sz="2400" noProof="0" dirty="0" err="1"/>
              <a:t>Transmitted</a:t>
            </a:r>
            <a:r>
              <a:rPr lang="hu-HU" sz="2400" noProof="0" dirty="0"/>
              <a:t>) levél</a:t>
            </a:r>
          </a:p>
          <a:p>
            <a:r>
              <a:rPr lang="hu-HU" sz="2400" dirty="0"/>
              <a:t>Testvérpár tulajdonság</a:t>
            </a:r>
          </a:p>
          <a:p>
            <a:pPr lvl="1"/>
            <a:r>
              <a:rPr lang="hu-HU" sz="2200" dirty="0"/>
              <a:t>Blokkok</a:t>
            </a:r>
          </a:p>
          <a:p>
            <a:pPr lvl="1"/>
            <a:r>
              <a:rPr lang="hu-HU" sz="2000" dirty="0"/>
              <a:t>Csúcsok számozása</a:t>
            </a:r>
            <a:endParaRPr lang="hu-HU" sz="2200" dirty="0"/>
          </a:p>
          <a:p>
            <a:endParaRPr lang="hu-HU" sz="2400" noProof="0" dirty="0"/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155C2063-C52C-C54A-F06C-BB7C013B1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776" y="249428"/>
            <a:ext cx="3371850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45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08FC3-DB71-95EB-29B1-7AB230D27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>
            <a:extLst>
              <a:ext uri="{FF2B5EF4-FFF2-40B4-BE49-F238E27FC236}">
                <a16:creationId xmlns:a16="http://schemas.microsoft.com/office/drawing/2014/main" id="{471697A1-115C-C7FC-EA3F-92A4EAE65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7458" y="246606"/>
            <a:ext cx="3372321" cy="2657846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A3F4BA75-0D78-973D-3C0B-2DCF34D00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noProof="0" dirty="0"/>
              <a:t>Adaptív Huffman-kódolás</a:t>
            </a:r>
            <a:br>
              <a:rPr lang="hu-HU" noProof="0" dirty="0"/>
            </a:br>
            <a:r>
              <a:rPr lang="hu-HU" noProof="0" dirty="0"/>
              <a:t>folyamata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3720247-27E1-6D56-453D-494A48748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9948" y="1575529"/>
            <a:ext cx="7315200" cy="5120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400" noProof="0" dirty="0" err="1"/>
              <a:t>Kódfa</a:t>
            </a:r>
            <a:r>
              <a:rPr lang="hu-HU" sz="2400" noProof="0" dirty="0"/>
              <a:t> építése és karbantartása:</a:t>
            </a:r>
          </a:p>
          <a:p>
            <a:pPr marL="457200" indent="-457200">
              <a:buFont typeface="+mj-lt"/>
              <a:buAutoNum type="arabicPeriod"/>
            </a:pPr>
            <a:endParaRPr lang="hu-HU" sz="1800" noProof="0" dirty="0"/>
          </a:p>
          <a:p>
            <a:pPr marL="457200" indent="-457200">
              <a:buFont typeface="+mj-lt"/>
              <a:buAutoNum type="arabicPeriod"/>
            </a:pPr>
            <a:r>
              <a:rPr lang="hu-HU" sz="1800" noProof="0" dirty="0"/>
              <a:t>Az érkező karakter vizsgálata, és kódolása.</a:t>
            </a:r>
          </a:p>
          <a:p>
            <a:pPr marL="457200" indent="-457200">
              <a:buFont typeface="+mj-lt"/>
              <a:buAutoNum type="arabicPeriod"/>
            </a:pPr>
            <a:r>
              <a:rPr lang="hu-HU" sz="1800" noProof="0" dirty="0"/>
              <a:t>Vizsgált csúcs = érkező karakter</a:t>
            </a:r>
          </a:p>
          <a:p>
            <a:pPr marL="457200" indent="-457200">
              <a:buFont typeface="+mj-lt"/>
              <a:buAutoNum type="arabicPeriod"/>
            </a:pPr>
            <a:r>
              <a:rPr lang="hu-HU" sz="1800" noProof="0" dirty="0"/>
              <a:t>Kicseréljük a vizsgált csúcsot a blokkjában lévő legnagyobb sorszámú csúccsal (ha nem a szülője)</a:t>
            </a:r>
          </a:p>
          <a:p>
            <a:pPr marL="457200" indent="-457200">
              <a:buFont typeface="+mj-lt"/>
              <a:buAutoNum type="arabicPeriod"/>
            </a:pPr>
            <a:r>
              <a:rPr lang="hu-HU" sz="1800" noProof="0" dirty="0"/>
              <a:t>Növeljük a csúcs súlyát eggyel </a:t>
            </a:r>
          </a:p>
          <a:p>
            <a:pPr marL="457200" indent="-457200">
              <a:buFont typeface="+mj-lt"/>
              <a:buAutoNum type="arabicPeriod"/>
            </a:pPr>
            <a:r>
              <a:rPr lang="hu-HU" sz="1800" noProof="0" dirty="0"/>
              <a:t>A vizsgált csúcs szülője lesz az új vizsgált csúcs, ha az nem a gyökér, ugrás a 3) lépésre</a:t>
            </a:r>
          </a:p>
          <a:p>
            <a:pPr marL="457200" indent="-457200">
              <a:buFont typeface="+mj-lt"/>
              <a:buAutoNum type="arabicPeriod"/>
            </a:pPr>
            <a:endParaRPr lang="hu-HU" sz="1800" noProof="0" dirty="0"/>
          </a:p>
          <a:p>
            <a:pPr marL="0" indent="0">
              <a:buNone/>
            </a:pPr>
            <a:r>
              <a:rPr lang="hu-HU" noProof="0" dirty="0"/>
              <a:t>A kódolás során a kódoló és a dekódoló párhuzamosan építik a kódfát mindkét oldalon</a:t>
            </a:r>
          </a:p>
        </p:txBody>
      </p:sp>
    </p:spTree>
    <p:extLst>
      <p:ext uri="{BB962C8B-B14F-4D97-AF65-F5344CB8AC3E}">
        <p14:creationId xmlns:p14="http://schemas.microsoft.com/office/powerpoint/2010/main" val="3736201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67511-4CDF-5FA7-43C2-F7D209139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>
            <a:extLst>
              <a:ext uri="{FF2B5EF4-FFF2-40B4-BE49-F238E27FC236}">
                <a16:creationId xmlns:a16="http://schemas.microsoft.com/office/drawing/2014/main" id="{A0468FC5-24F1-7CFC-EAD1-561CFC804D02}"/>
              </a:ext>
            </a:extLst>
          </p:cNvPr>
          <p:cNvSpPr/>
          <p:nvPr/>
        </p:nvSpPr>
        <p:spPr>
          <a:xfrm>
            <a:off x="0" y="0"/>
            <a:ext cx="12192000" cy="1123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noProof="0" dirty="0"/>
          </a:p>
        </p:txBody>
      </p:sp>
      <p:sp>
        <p:nvSpPr>
          <p:cNvPr id="3" name="Cím 1">
            <a:extLst>
              <a:ext uri="{FF2B5EF4-FFF2-40B4-BE49-F238E27FC236}">
                <a16:creationId xmlns:a16="http://schemas.microsoft.com/office/drawing/2014/main" id="{27A90BD2-2309-FE61-B1FF-9DE5CFB71DCA}"/>
              </a:ext>
            </a:extLst>
          </p:cNvPr>
          <p:cNvSpPr txBox="1">
            <a:spLocks/>
          </p:cNvSpPr>
          <p:nvPr/>
        </p:nvSpPr>
        <p:spPr>
          <a:xfrm>
            <a:off x="278065" y="272668"/>
            <a:ext cx="9130339" cy="42139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dirty="0"/>
              <a:t>Adaptív</a:t>
            </a:r>
            <a:r>
              <a:rPr lang="hu-HU" noProof="0" dirty="0"/>
              <a:t> Huffman-kódolás a programomban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75B4F89A-4F85-9FC6-C759-F34AFE85C082}"/>
              </a:ext>
            </a:extLst>
          </p:cNvPr>
          <p:cNvSpPr txBox="1"/>
          <p:nvPr/>
        </p:nvSpPr>
        <p:spPr>
          <a:xfrm>
            <a:off x="-151594" y="4995616"/>
            <a:ext cx="1173032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accent1"/>
                </a:solidFill>
              </a:rPr>
              <a:t>Szöveges bemenet</a:t>
            </a:r>
          </a:p>
          <a:p>
            <a:pPr marL="742950" lvl="1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accent1"/>
                </a:solidFill>
              </a:rPr>
              <a:t>Léptetés nyilakkal</a:t>
            </a:r>
          </a:p>
          <a:p>
            <a:pPr marL="742950" lvl="1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accent1"/>
                </a:solidFill>
              </a:rPr>
              <a:t>Súlytáblázat</a:t>
            </a:r>
          </a:p>
          <a:p>
            <a:pPr marL="742950" lvl="1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accent1"/>
                </a:solidFill>
              </a:rPr>
              <a:t>Színezés</a:t>
            </a:r>
          </a:p>
          <a:p>
            <a:pPr marL="742950" lvl="1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accent1"/>
                </a:solidFill>
              </a:rPr>
              <a:t>Megjeleníti az éppen beolvasott karaktert, az eddig kódolt szöveget, és az elküldött kódot</a:t>
            </a:r>
          </a:p>
          <a:p>
            <a:pPr>
              <a:buClr>
                <a:schemeClr val="tx2"/>
              </a:buClr>
            </a:pPr>
            <a:endParaRPr lang="hu-HU" sz="2000" noProof="0" dirty="0"/>
          </a:p>
        </p:txBody>
      </p:sp>
      <p:pic>
        <p:nvPicPr>
          <p:cNvPr id="13" name="Kép 12">
            <a:extLst>
              <a:ext uri="{FF2B5EF4-FFF2-40B4-BE49-F238E27FC236}">
                <a16:creationId xmlns:a16="http://schemas.microsoft.com/office/drawing/2014/main" id="{019EE83F-6367-1F07-F0A9-210BF760B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23720"/>
            <a:ext cx="12192000" cy="347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048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A0E51-25D8-39D2-1455-758C6A704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>
            <a:extLst>
              <a:ext uri="{FF2B5EF4-FFF2-40B4-BE49-F238E27FC236}">
                <a16:creationId xmlns:a16="http://schemas.microsoft.com/office/drawing/2014/main" id="{57CC76FC-D084-FED3-D666-9C0F0F58E416}"/>
              </a:ext>
            </a:extLst>
          </p:cNvPr>
          <p:cNvSpPr/>
          <p:nvPr/>
        </p:nvSpPr>
        <p:spPr>
          <a:xfrm>
            <a:off x="0" y="0"/>
            <a:ext cx="12192000" cy="1123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noProof="0" dirty="0"/>
          </a:p>
        </p:txBody>
      </p:sp>
      <p:sp>
        <p:nvSpPr>
          <p:cNvPr id="3" name="Cím 1">
            <a:extLst>
              <a:ext uri="{FF2B5EF4-FFF2-40B4-BE49-F238E27FC236}">
                <a16:creationId xmlns:a16="http://schemas.microsoft.com/office/drawing/2014/main" id="{E7536C86-39C6-8F4B-BDF0-DEF27DBD873D}"/>
              </a:ext>
            </a:extLst>
          </p:cNvPr>
          <p:cNvSpPr txBox="1">
            <a:spLocks/>
          </p:cNvSpPr>
          <p:nvPr/>
        </p:nvSpPr>
        <p:spPr>
          <a:xfrm>
            <a:off x="278065" y="272668"/>
            <a:ext cx="9130339" cy="42139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dirty="0"/>
              <a:t>Adaptív</a:t>
            </a:r>
            <a:r>
              <a:rPr lang="hu-HU" noProof="0" dirty="0"/>
              <a:t> Huffman-kódolás a programomban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419612B5-4184-EC54-0E8F-A0387B786B8E}"/>
              </a:ext>
            </a:extLst>
          </p:cNvPr>
          <p:cNvSpPr txBox="1"/>
          <p:nvPr/>
        </p:nvSpPr>
        <p:spPr>
          <a:xfrm>
            <a:off x="-151594" y="4995616"/>
            <a:ext cx="1173032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accent1"/>
                </a:solidFill>
              </a:rPr>
              <a:t>Szöveges bemenet</a:t>
            </a:r>
          </a:p>
          <a:p>
            <a:pPr marL="742950" lvl="1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accent1"/>
                </a:solidFill>
              </a:rPr>
              <a:t>Léptetés nyilakkal</a:t>
            </a:r>
          </a:p>
          <a:p>
            <a:pPr marL="742950" lvl="1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accent1"/>
                </a:solidFill>
              </a:rPr>
              <a:t>Súlytáblázat</a:t>
            </a:r>
          </a:p>
          <a:p>
            <a:pPr marL="742950" lvl="1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accent1"/>
                </a:solidFill>
              </a:rPr>
              <a:t>Színezés</a:t>
            </a:r>
          </a:p>
          <a:p>
            <a:pPr marL="742950" lvl="1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accent1"/>
                </a:solidFill>
              </a:rPr>
              <a:t>Megjeleníti az éppen beolvasott karaktert, az eddig kódolt szöveget, és az elküldött kódot</a:t>
            </a:r>
          </a:p>
          <a:p>
            <a:pPr>
              <a:buClr>
                <a:schemeClr val="tx2"/>
              </a:buClr>
            </a:pPr>
            <a:endParaRPr lang="hu-HU" sz="2000" noProof="0" dirty="0"/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11B4FF67-3113-D0E5-A136-1F58BD01C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23720"/>
            <a:ext cx="12192000" cy="347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06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F1F6D-0755-1034-7B69-5FF433E88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>
            <a:extLst>
              <a:ext uri="{FF2B5EF4-FFF2-40B4-BE49-F238E27FC236}">
                <a16:creationId xmlns:a16="http://schemas.microsoft.com/office/drawing/2014/main" id="{032B401D-0DF1-29EE-C5BC-081AF1B8E4DE}"/>
              </a:ext>
            </a:extLst>
          </p:cNvPr>
          <p:cNvSpPr/>
          <p:nvPr/>
        </p:nvSpPr>
        <p:spPr>
          <a:xfrm>
            <a:off x="0" y="0"/>
            <a:ext cx="12192000" cy="1123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noProof="0" dirty="0"/>
          </a:p>
        </p:txBody>
      </p:sp>
      <p:sp>
        <p:nvSpPr>
          <p:cNvPr id="3" name="Cím 1">
            <a:extLst>
              <a:ext uri="{FF2B5EF4-FFF2-40B4-BE49-F238E27FC236}">
                <a16:creationId xmlns:a16="http://schemas.microsoft.com/office/drawing/2014/main" id="{EDF56FB0-48D9-0B71-2DD9-B0F7498BE06A}"/>
              </a:ext>
            </a:extLst>
          </p:cNvPr>
          <p:cNvSpPr txBox="1">
            <a:spLocks/>
          </p:cNvSpPr>
          <p:nvPr/>
        </p:nvSpPr>
        <p:spPr>
          <a:xfrm>
            <a:off x="278065" y="272668"/>
            <a:ext cx="9130339" cy="42139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dirty="0"/>
              <a:t>Adaptív</a:t>
            </a:r>
            <a:r>
              <a:rPr lang="hu-HU" noProof="0" dirty="0"/>
              <a:t> Huffman-kódolás a programomban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25353A01-E6F6-8076-6F36-A970ABBF459D}"/>
              </a:ext>
            </a:extLst>
          </p:cNvPr>
          <p:cNvSpPr txBox="1"/>
          <p:nvPr/>
        </p:nvSpPr>
        <p:spPr>
          <a:xfrm>
            <a:off x="-151594" y="4995616"/>
            <a:ext cx="1173032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accent1"/>
                </a:solidFill>
              </a:rPr>
              <a:t>Szöveges bemenet</a:t>
            </a:r>
          </a:p>
          <a:p>
            <a:pPr marL="742950" lvl="1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accent1"/>
                </a:solidFill>
              </a:rPr>
              <a:t>Léptetés nyilakkal</a:t>
            </a:r>
          </a:p>
          <a:p>
            <a:pPr marL="742950" lvl="1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accent1"/>
                </a:solidFill>
              </a:rPr>
              <a:t>Súlytáblázat</a:t>
            </a:r>
          </a:p>
          <a:p>
            <a:pPr marL="742950" lvl="1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accent1"/>
                </a:solidFill>
              </a:rPr>
              <a:t>Színezés</a:t>
            </a:r>
          </a:p>
          <a:p>
            <a:pPr marL="742950" lvl="1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accent1"/>
                </a:solidFill>
              </a:rPr>
              <a:t>Megjeleníti az éppen beolvasott karaktert, az eddig kódolt szöveget, és az elküldött kódot</a:t>
            </a:r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65715DDA-08AF-CCFC-44F1-37DD75853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23720"/>
            <a:ext cx="12192000" cy="374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239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15087-D9AD-FDA1-F537-D230299D4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>
            <a:extLst>
              <a:ext uri="{FF2B5EF4-FFF2-40B4-BE49-F238E27FC236}">
                <a16:creationId xmlns:a16="http://schemas.microsoft.com/office/drawing/2014/main" id="{D408614C-7791-777E-C669-C7258C93CD96}"/>
              </a:ext>
            </a:extLst>
          </p:cNvPr>
          <p:cNvSpPr/>
          <p:nvPr/>
        </p:nvSpPr>
        <p:spPr>
          <a:xfrm>
            <a:off x="0" y="0"/>
            <a:ext cx="12192000" cy="1123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noProof="0" dirty="0"/>
          </a:p>
        </p:txBody>
      </p:sp>
      <p:sp>
        <p:nvSpPr>
          <p:cNvPr id="3" name="Cím 1">
            <a:extLst>
              <a:ext uri="{FF2B5EF4-FFF2-40B4-BE49-F238E27FC236}">
                <a16:creationId xmlns:a16="http://schemas.microsoft.com/office/drawing/2014/main" id="{EDA2129B-CE8C-EAD4-A336-8BFC7F98E0CA}"/>
              </a:ext>
            </a:extLst>
          </p:cNvPr>
          <p:cNvSpPr txBox="1">
            <a:spLocks/>
          </p:cNvSpPr>
          <p:nvPr/>
        </p:nvSpPr>
        <p:spPr>
          <a:xfrm>
            <a:off x="278065" y="272668"/>
            <a:ext cx="9130339" cy="42139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dirty="0"/>
              <a:t>Adaptív</a:t>
            </a:r>
            <a:r>
              <a:rPr lang="hu-HU" noProof="0" dirty="0"/>
              <a:t> Huffman-kódolás a programomban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68C3674B-804F-58E7-36AC-F368652549E2}"/>
              </a:ext>
            </a:extLst>
          </p:cNvPr>
          <p:cNvSpPr txBox="1"/>
          <p:nvPr/>
        </p:nvSpPr>
        <p:spPr>
          <a:xfrm>
            <a:off x="-151594" y="4995616"/>
            <a:ext cx="1173032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accent1"/>
                </a:solidFill>
              </a:rPr>
              <a:t>Szöveges bemenet</a:t>
            </a:r>
          </a:p>
          <a:p>
            <a:pPr marL="742950" lvl="1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accent1"/>
                </a:solidFill>
              </a:rPr>
              <a:t>Léptetés nyilakkal</a:t>
            </a:r>
          </a:p>
          <a:p>
            <a:pPr marL="742950" lvl="1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accent1"/>
                </a:solidFill>
              </a:rPr>
              <a:t>Súlytáblázat</a:t>
            </a:r>
          </a:p>
          <a:p>
            <a:pPr marL="742950" lvl="1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accent1"/>
                </a:solidFill>
              </a:rPr>
              <a:t>Színezés</a:t>
            </a:r>
          </a:p>
          <a:p>
            <a:pPr marL="742950" lvl="1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accent1"/>
                </a:solidFill>
              </a:rPr>
              <a:t>Megjeleníti az éppen beolvasott karaktert, az eddig kódolt szöveget, és az elküldött kódot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DDF7ADF9-C6AD-EF3A-83AA-5149F6471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23720"/>
            <a:ext cx="12192000" cy="3703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195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2226D-3DE6-AB71-3492-F776F21DE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>
            <a:extLst>
              <a:ext uri="{FF2B5EF4-FFF2-40B4-BE49-F238E27FC236}">
                <a16:creationId xmlns:a16="http://schemas.microsoft.com/office/drawing/2014/main" id="{BD875F0E-0B8F-71C1-8464-6C3431E0141D}"/>
              </a:ext>
            </a:extLst>
          </p:cNvPr>
          <p:cNvSpPr/>
          <p:nvPr/>
        </p:nvSpPr>
        <p:spPr>
          <a:xfrm>
            <a:off x="0" y="0"/>
            <a:ext cx="12192000" cy="1123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noProof="0" dirty="0"/>
          </a:p>
        </p:txBody>
      </p:sp>
      <p:sp>
        <p:nvSpPr>
          <p:cNvPr id="3" name="Cím 1">
            <a:extLst>
              <a:ext uri="{FF2B5EF4-FFF2-40B4-BE49-F238E27FC236}">
                <a16:creationId xmlns:a16="http://schemas.microsoft.com/office/drawing/2014/main" id="{AC7CA59E-9A79-8964-DB3B-32F94681A766}"/>
              </a:ext>
            </a:extLst>
          </p:cNvPr>
          <p:cNvSpPr txBox="1">
            <a:spLocks/>
          </p:cNvSpPr>
          <p:nvPr/>
        </p:nvSpPr>
        <p:spPr>
          <a:xfrm>
            <a:off x="278065" y="272668"/>
            <a:ext cx="9130339" cy="42139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dirty="0"/>
              <a:t>Adaptív</a:t>
            </a:r>
            <a:r>
              <a:rPr lang="hu-HU" noProof="0" dirty="0"/>
              <a:t> Huffman-kódolás a programomban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FA540166-6EEC-527B-0C7E-395C7BF561AC}"/>
              </a:ext>
            </a:extLst>
          </p:cNvPr>
          <p:cNvSpPr txBox="1"/>
          <p:nvPr/>
        </p:nvSpPr>
        <p:spPr>
          <a:xfrm>
            <a:off x="-151594" y="4995616"/>
            <a:ext cx="1173032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accent1"/>
                </a:solidFill>
              </a:rPr>
              <a:t>Szöveges bemenet</a:t>
            </a:r>
          </a:p>
          <a:p>
            <a:pPr marL="742950" lvl="1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accent1"/>
                </a:solidFill>
              </a:rPr>
              <a:t>Léptetés nyilakkal</a:t>
            </a:r>
          </a:p>
          <a:p>
            <a:pPr marL="742950" lvl="1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accent1"/>
                </a:solidFill>
              </a:rPr>
              <a:t>Súlytáblázat</a:t>
            </a:r>
          </a:p>
          <a:p>
            <a:pPr marL="742950" lvl="1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accent1"/>
                </a:solidFill>
              </a:rPr>
              <a:t>Színezés</a:t>
            </a:r>
          </a:p>
          <a:p>
            <a:pPr marL="742950" lvl="1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accent1"/>
                </a:solidFill>
              </a:rPr>
              <a:t>Megjeleníti az éppen beolvasott karaktert, az eddig kódolt szöveget, és az elküldött kódot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4D811528-95BF-8FC9-3552-E93F40554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20608"/>
            <a:ext cx="12192000" cy="372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225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F825B-9419-4E18-D1AE-687C41B14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Kép 9">
            <a:extLst>
              <a:ext uri="{FF2B5EF4-FFF2-40B4-BE49-F238E27FC236}">
                <a16:creationId xmlns:a16="http://schemas.microsoft.com/office/drawing/2014/main" id="{05B29A21-9546-6BFE-70FF-1D433A6FE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23720"/>
            <a:ext cx="12192000" cy="4148711"/>
          </a:xfrm>
          <a:prstGeom prst="rect">
            <a:avLst/>
          </a:prstGeom>
        </p:spPr>
      </p:pic>
      <p:sp>
        <p:nvSpPr>
          <p:cNvPr id="2" name="Téglalap 1">
            <a:extLst>
              <a:ext uri="{FF2B5EF4-FFF2-40B4-BE49-F238E27FC236}">
                <a16:creationId xmlns:a16="http://schemas.microsoft.com/office/drawing/2014/main" id="{A47165E3-89DA-FFC4-D531-C08054051E50}"/>
              </a:ext>
            </a:extLst>
          </p:cNvPr>
          <p:cNvSpPr/>
          <p:nvPr/>
        </p:nvSpPr>
        <p:spPr>
          <a:xfrm>
            <a:off x="0" y="0"/>
            <a:ext cx="12192000" cy="1123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noProof="0" dirty="0"/>
          </a:p>
        </p:txBody>
      </p:sp>
      <p:sp>
        <p:nvSpPr>
          <p:cNvPr id="3" name="Cím 1">
            <a:extLst>
              <a:ext uri="{FF2B5EF4-FFF2-40B4-BE49-F238E27FC236}">
                <a16:creationId xmlns:a16="http://schemas.microsoft.com/office/drawing/2014/main" id="{BCD5C342-FF0B-C943-CB7B-BF13675180FC}"/>
              </a:ext>
            </a:extLst>
          </p:cNvPr>
          <p:cNvSpPr txBox="1">
            <a:spLocks/>
          </p:cNvSpPr>
          <p:nvPr/>
        </p:nvSpPr>
        <p:spPr>
          <a:xfrm>
            <a:off x="278065" y="272668"/>
            <a:ext cx="9130339" cy="42139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dirty="0"/>
              <a:t>Adaptív</a:t>
            </a:r>
            <a:r>
              <a:rPr lang="hu-HU" noProof="0" dirty="0"/>
              <a:t> Huffman-kódolás a programomban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09A462CE-0BCF-CD4F-4D53-EFE534130174}"/>
              </a:ext>
            </a:extLst>
          </p:cNvPr>
          <p:cNvSpPr txBox="1"/>
          <p:nvPr/>
        </p:nvSpPr>
        <p:spPr>
          <a:xfrm>
            <a:off x="-151594" y="4995616"/>
            <a:ext cx="1173032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accent1"/>
                </a:solidFill>
              </a:rPr>
              <a:t>Szöveges bemenet</a:t>
            </a:r>
          </a:p>
          <a:p>
            <a:pPr marL="742950" lvl="1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accent1"/>
                </a:solidFill>
              </a:rPr>
              <a:t>Léptetés nyilakkal</a:t>
            </a:r>
          </a:p>
          <a:p>
            <a:pPr marL="742950" lvl="1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accent1"/>
                </a:solidFill>
              </a:rPr>
              <a:t>Súlytáblázat</a:t>
            </a:r>
          </a:p>
          <a:p>
            <a:pPr marL="742950" lvl="1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accent1"/>
                </a:solidFill>
              </a:rPr>
              <a:t>Színezés</a:t>
            </a:r>
          </a:p>
          <a:p>
            <a:pPr marL="742950" lvl="1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accent1"/>
                </a:solidFill>
              </a:rPr>
              <a:t>Megjeleníti az éppen beolvasott karaktert, az eddig kódolt szöveget, és az elküldött kódot</a:t>
            </a:r>
          </a:p>
          <a:p>
            <a:pPr>
              <a:buClr>
                <a:schemeClr val="tx2"/>
              </a:buClr>
            </a:pPr>
            <a:endParaRPr lang="hu-HU" sz="2000" noProof="0" dirty="0"/>
          </a:p>
        </p:txBody>
      </p:sp>
    </p:spTree>
    <p:extLst>
      <p:ext uri="{BB962C8B-B14F-4D97-AF65-F5344CB8AC3E}">
        <p14:creationId xmlns:p14="http://schemas.microsoft.com/office/powerpoint/2010/main" val="2019435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B2A4CE9-FAD5-019B-8FBC-3182556E0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Összefoglalás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935D060-7698-45CE-54AA-449C4CB8A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400" dirty="0"/>
              <a:t>A félév során megismertem az adaptív Huffman-kódolást</a:t>
            </a:r>
          </a:p>
          <a:p>
            <a:r>
              <a:rPr lang="hu-HU" sz="2400" dirty="0"/>
              <a:t>Elkészítettem egy weboldalt az algoritmusok vizualizációjához</a:t>
            </a:r>
          </a:p>
          <a:p>
            <a:pPr lvl="1"/>
            <a:r>
              <a:rPr lang="hu-HU" sz="2000" dirty="0"/>
              <a:t>JavaScript, D3.js megjelenítésre</a:t>
            </a:r>
          </a:p>
          <a:p>
            <a:pPr lvl="1"/>
            <a:r>
              <a:rPr lang="hu-HU" sz="2000" dirty="0"/>
              <a:t>Moduláris (MVC) architektúra, bővíthetőség</a:t>
            </a:r>
          </a:p>
        </p:txBody>
      </p:sp>
    </p:spTree>
    <p:extLst>
      <p:ext uri="{BB962C8B-B14F-4D97-AF65-F5344CB8AC3E}">
        <p14:creationId xmlns:p14="http://schemas.microsoft.com/office/powerpoint/2010/main" val="2957724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E20C9673-117F-E033-1840-D2212615F0B6}"/>
              </a:ext>
            </a:extLst>
          </p:cNvPr>
          <p:cNvSpPr txBox="1"/>
          <p:nvPr/>
        </p:nvSpPr>
        <p:spPr>
          <a:xfrm>
            <a:off x="1614837" y="2828835"/>
            <a:ext cx="89623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7200">
                <a:solidFill>
                  <a:schemeClr val="accent1"/>
                </a:solidFill>
              </a:rPr>
              <a:t>Köszönöm a figyelmet!</a:t>
            </a:r>
            <a:endParaRPr lang="hu-HU" sz="7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6014593"/>
      </p:ext>
    </p:extLst>
  </p:cSld>
  <p:clrMapOvr>
    <a:masterClrMapping/>
  </p:clrMapOvr>
</p:sld>
</file>

<file path=ppt/theme/theme1.xml><?xml version="1.0" encoding="utf-8"?>
<a:theme xmlns:a="http://schemas.openxmlformats.org/drawingml/2006/main" name="Keret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1179</TotalTime>
  <Words>1016</Words>
  <Application>Microsoft Office PowerPoint</Application>
  <PresentationFormat>Szélesvásznú</PresentationFormat>
  <Paragraphs>160</Paragraphs>
  <Slides>15</Slides>
  <Notes>15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22" baseType="lpstr">
      <vt:lpstr>Aptos</vt:lpstr>
      <vt:lpstr>Arial</vt:lpstr>
      <vt:lpstr>Cambria Math</vt:lpstr>
      <vt:lpstr>Corbel</vt:lpstr>
      <vt:lpstr>Merriweather</vt:lpstr>
      <vt:lpstr>Wingdings 2</vt:lpstr>
      <vt:lpstr>Keret</vt:lpstr>
      <vt:lpstr>Segédszoftver készítése kódoló algoritmusokhoz </vt:lpstr>
      <vt:lpstr>Statikus Huffman-kódolás jellemzői</vt:lpstr>
      <vt:lpstr>Statikus Huffman-kódolás folyamata</vt:lpstr>
      <vt:lpstr>PowerPoint-bemutató</vt:lpstr>
      <vt:lpstr>PowerPoint-bemutató</vt:lpstr>
      <vt:lpstr>Miben más az Adaptív Huffman-kódolás?</vt:lpstr>
      <vt:lpstr>Adaptív Huffman-kódolás folyamata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Összefoglalás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Ács Dorottya Julianna</dc:creator>
  <cp:lastModifiedBy>Ács Dorottya Julianna</cp:lastModifiedBy>
  <cp:revision>20</cp:revision>
  <dcterms:created xsi:type="dcterms:W3CDTF">2026-05-31T14:39:26Z</dcterms:created>
  <dcterms:modified xsi:type="dcterms:W3CDTF">2026-06-01T20:02:46Z</dcterms:modified>
</cp:coreProperties>
</file>